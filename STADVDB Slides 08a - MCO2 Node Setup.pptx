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596" r:id="rId3"/>
    <p:sldId id="257" r:id="rId4"/>
    <p:sldId id="597" r:id="rId5"/>
    <p:sldId id="598" r:id="rId6"/>
    <p:sldId id="618" r:id="rId7"/>
    <p:sldId id="599" r:id="rId8"/>
    <p:sldId id="602" r:id="rId9"/>
    <p:sldId id="258" r:id="rId10"/>
    <p:sldId id="593" r:id="rId11"/>
    <p:sldId id="622" r:id="rId12"/>
    <p:sldId id="601" r:id="rId13"/>
    <p:sldId id="619" r:id="rId14"/>
    <p:sldId id="620" r:id="rId15"/>
    <p:sldId id="603" r:id="rId16"/>
    <p:sldId id="621" r:id="rId17"/>
    <p:sldId id="604" r:id="rId18"/>
    <p:sldId id="605" r:id="rId19"/>
    <p:sldId id="609" r:id="rId20"/>
    <p:sldId id="607" r:id="rId21"/>
    <p:sldId id="606" r:id="rId22"/>
    <p:sldId id="608" r:id="rId23"/>
    <p:sldId id="617" r:id="rId24"/>
    <p:sldId id="610" r:id="rId25"/>
    <p:sldId id="612" r:id="rId26"/>
    <p:sldId id="611" r:id="rId27"/>
    <p:sldId id="616" r:id="rId28"/>
    <p:sldId id="613" r:id="rId29"/>
    <p:sldId id="614" r:id="rId30"/>
    <p:sldId id="61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1479"/>
    <a:srgbClr val="781CA0"/>
    <a:srgbClr val="6717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7"/>
    <p:restoredTop sz="95574"/>
  </p:normalViewPr>
  <p:slideViewPr>
    <p:cSldViewPr snapToGrid="0" snapToObjects="1">
      <p:cViewPr varScale="1">
        <p:scale>
          <a:sx n="97" d="100"/>
          <a:sy n="97" d="100"/>
        </p:scale>
        <p:origin x="21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3668E-F586-EF46-AB49-CC538AF05D3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32A71-762B-AB49-8656-446F30146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2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Setup your DB Server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Data storage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dirty="0"/>
              <a:t>Write your Web Apps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Simple DB insertion / selection / view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dirty="0"/>
              <a:t>Simulate Node Crash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Data Access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Data Storage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dirty="0"/>
              <a:t>Simulate Node Recovery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Data update to maintain consistency with other nodes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32A71-762B-AB49-8656-446F301465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4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3E37-F45F-1045-A053-828D5AF35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FDB5-892E-134B-9170-2255DB7BB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9A7-8A94-C846-A92B-85AE19DA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C104-1E1B-9B41-BFB3-A6561A30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484D1-DD75-DE42-8AF5-C79731C0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5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9167-0E19-5242-BAB2-BE6385EB4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64A91-010E-9242-A48D-856AE170A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BE329-AE33-6940-8249-0C1CE61E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77BA-6A6C-B64D-8AC5-0E28AAE4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9D703-9933-6643-B72A-B4FC241F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1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FC71-AF82-B24D-98CD-47489B15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1CAC6-BFAE-0041-A878-2F1E61269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F5F1D-3591-AE42-91E5-FEE46691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1CF66-7F44-E948-AC25-0604EB76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80926-FFFD-C747-9BED-27DD473A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6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9261-99B9-A84E-8797-935440CC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7774-789D-F146-B4D5-DFC54CEC5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D27C8-6492-904E-8EEE-AADCC54BA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D317D-5792-0746-AF92-3BF96556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DBD78-E720-CB49-B073-6968E4A0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547C8-51B2-444C-8233-8BBA8EFA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53EE-D595-4443-A563-0EE9D510E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16605-D739-DC4A-9A5B-D898BC142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30BCE-ED2E-D649-9440-425F9C3CE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5C409E-E000-8A4F-962B-EAD15B695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2A68A-8798-044F-A87A-FCA93088E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B0835-9877-7941-92DF-AEC3F562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8813B-39D0-434A-A9DF-0C155F3F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77FBD-A420-A647-ACE1-2F53E6EA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5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1AAF-8DC5-AF40-84ED-97C85BE8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69A65-E3F8-1A4D-B592-4B33C468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15F6F-8F1A-C541-A957-D31596B9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BBBFB-880C-034B-8932-E71C19E5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4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4443D-F988-9C41-AB0F-8E693021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3C3C9-B935-2E49-A1C9-40DEA1E8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9BD3A-FE75-C842-AD36-0CF00187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0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1D69-5CE2-3D4D-8F14-EEEFC658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ECDDA-F48D-0A4C-80FE-C53BF71D6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2F60C-5885-D94E-A1A2-190EC540C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F9CC3-415C-8C41-B09C-80B3AAB8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68DC4-000E-D743-AC2F-08E6BCA9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7C618-F38E-DE41-A742-FEDED01F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34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B2F8-5270-EC4E-8689-C5CED028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5A0CE-707B-394B-B1CB-96CBE3CA41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7E45C-21D5-0146-AE92-BEC06A3AA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AB70E-38A6-FD48-BFEE-FA1ADB47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E7553-799A-254F-81B6-486E9903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E6736-2C72-BF4E-98FD-E525294F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A938-9B8E-9B49-B3B4-18716BC3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08E22-D167-F649-8A56-4E086DFB7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8EF1C-F42E-734E-95CB-29658A94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80E45-2DE8-9243-981D-2DB2B7EF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9F33A-4FF8-C544-A8DA-3FBCD9FB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99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0B715-E0CF-4F48-AF40-AF3F9195D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98307-1AFE-5A4C-B489-146EF4F50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C9336-F061-7848-9FD5-9F74B6DD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B50EC-2F94-604F-A132-1C9F8FB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88CD-6D69-D64A-9B0A-D855F494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4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FBD81-2A26-1F4A-BCAE-4B79888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53CE0-3E78-234E-AD79-49A8DCD5E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C5095-4869-8647-8B15-23C42B1D1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6B515-2965-584E-8964-CC3A7951DD1B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ED2F4-F5BF-F947-A023-5AE73A791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24318-E8BF-164B-B400-7E595D61A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7EBDB-4736-B543-B4AA-C892927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51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5729" y="735106"/>
            <a:ext cx="9480177" cy="2928470"/>
          </a:xfrm>
        </p:spPr>
        <p:txBody>
          <a:bodyPr anchor="b">
            <a:normAutofit/>
          </a:bodyPr>
          <a:lstStyle/>
          <a:p>
            <a:pPr algn="l">
              <a:lnSpc>
                <a:spcPct val="114000"/>
              </a:lnSpc>
            </a:pPr>
            <a:r>
              <a:rPr lang="en-US" sz="6600" dirty="0">
                <a:solidFill>
                  <a:srgbClr val="FFFFFF"/>
                </a:solidFill>
              </a:rPr>
              <a:t>Transaction Management in Distributed Databases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/>
              <a:t>MCO2 Requirements Overview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fld id="{6601CB9E-F095-0A40-B29B-A52B326E9F11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eaLnBrk="1" hangingPunct="1">
                <a:spcAft>
                  <a:spcPts val="600"/>
                </a:spcAft>
              </a:pPr>
              <a:t>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85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1D1FE7-C97E-B147-8E57-DC10731EC0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4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214664" y="609600"/>
            <a:ext cx="7772400" cy="685800"/>
          </a:xfrm>
        </p:spPr>
        <p:txBody>
          <a:bodyPr anchor="ctr"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Distributed Database</a:t>
            </a:r>
          </a:p>
        </p:txBody>
      </p:sp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761564"/>
            <a:ext cx="10348445" cy="4274393"/>
          </a:xfrm>
        </p:spPr>
        <p:txBody>
          <a:bodyPr>
            <a:normAutofit/>
          </a:bodyPr>
          <a:lstStyle/>
          <a:p>
            <a:pPr marL="381000" indent="-381000">
              <a:lnSpc>
                <a:spcPct val="120000"/>
              </a:lnSpc>
            </a:pPr>
            <a:r>
              <a:rPr lang="en-US" altLang="en-US" dirty="0"/>
              <a:t>Consists of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loosely coupled </a:t>
            </a:r>
            <a:r>
              <a:rPr lang="en-US" altLang="en-US" dirty="0"/>
              <a:t>sites, called </a:t>
            </a:r>
            <a:r>
              <a:rPr lang="en-US" altLang="en-US" b="1" i="1" dirty="0">
                <a:solidFill>
                  <a:schemeClr val="accent2">
                    <a:lumMod val="50000"/>
                  </a:schemeClr>
                </a:solidFill>
              </a:rPr>
              <a:t>nodes</a:t>
            </a:r>
            <a:r>
              <a:rPr lang="en-US" altLang="en-US" dirty="0"/>
              <a:t>, that share no physical components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Concurrent transactions </a:t>
            </a:r>
            <a:r>
              <a:rPr lang="en-US" altLang="en-US" dirty="0"/>
              <a:t>may access data at one or more sites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dirty="0"/>
              <a:t>Types of nodes setup</a:t>
            </a:r>
          </a:p>
          <a:p>
            <a:pPr marL="838200" lvl="1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Homogeneous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dirty="0"/>
              <a:t>– all nodes have the same DB schema and web app</a:t>
            </a:r>
          </a:p>
          <a:p>
            <a:pPr marL="838200" lvl="1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Heterogeneous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2400" dirty="0"/>
              <a:t>– nodes vary in their DB schema and/or web app</a:t>
            </a:r>
            <a:endParaRPr lang="en-US" alt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B72E4D4-3EF4-8EAB-F408-1F79634AD10A}"/>
              </a:ext>
            </a:extLst>
          </p:cNvPr>
          <p:cNvSpPr txBox="1">
            <a:spLocks/>
          </p:cNvSpPr>
          <p:nvPr/>
        </p:nvSpPr>
        <p:spPr>
          <a:xfrm>
            <a:off x="1385910" y="5836024"/>
            <a:ext cx="10005951" cy="842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7030A0"/>
                </a:solidFill>
                <a:latin typeface="Cambria" panose="02040503050406030204" pitchFamily="18" charset="0"/>
              </a:rPr>
              <a:t>For more details, see Slides 10 – 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335099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uter clip art free download clipart images - Clipartix">
            <a:extLst>
              <a:ext uri="{FF2B5EF4-FFF2-40B4-BE49-F238E27FC236}">
                <a16:creationId xmlns:a16="http://schemas.microsoft.com/office/drawing/2014/main" id="{A155D07F-63F2-E54C-A517-E4C3B7382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98" y="965200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omputer clip art free download clipart images - Clipartix">
            <a:extLst>
              <a:ext uri="{FF2B5EF4-FFF2-40B4-BE49-F238E27FC236}">
                <a16:creationId xmlns:a16="http://schemas.microsoft.com/office/drawing/2014/main" id="{9D433A96-44C7-4040-8BFD-B097398D1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099" y="3574957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omputer clip art free download clipart images - Clipartix">
            <a:extLst>
              <a:ext uri="{FF2B5EF4-FFF2-40B4-BE49-F238E27FC236}">
                <a16:creationId xmlns:a16="http://schemas.microsoft.com/office/drawing/2014/main" id="{C4E6AD0F-C942-294E-9A04-C77BDFDAE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204" y="965200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F63B8B-8E26-6045-922A-2D25C78B3292}"/>
              </a:ext>
            </a:extLst>
          </p:cNvPr>
          <p:cNvCxnSpPr/>
          <p:nvPr/>
        </p:nvCxnSpPr>
        <p:spPr>
          <a:xfrm>
            <a:off x="4451350" y="1960406"/>
            <a:ext cx="3015049" cy="0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266B0-A477-0947-BD60-C2EE9EA49926}"/>
              </a:ext>
            </a:extLst>
          </p:cNvPr>
          <p:cNvCxnSpPr>
            <a:cxnSpLocks/>
          </p:cNvCxnSpPr>
          <p:nvPr/>
        </p:nvCxnSpPr>
        <p:spPr>
          <a:xfrm flipH="1">
            <a:off x="8284684" y="3716187"/>
            <a:ext cx="1494523" cy="1384623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96DDDC-C942-754B-9D28-4F64EA985879}"/>
              </a:ext>
            </a:extLst>
          </p:cNvPr>
          <p:cNvSpPr txBox="1"/>
          <p:nvPr/>
        </p:nvSpPr>
        <p:spPr>
          <a:xfrm>
            <a:off x="3914731" y="6070733"/>
            <a:ext cx="4362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1 in the Cloud / Web &amp; DB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FF0406-7234-1146-98A9-C33A36E8B792}"/>
              </a:ext>
            </a:extLst>
          </p:cNvPr>
          <p:cNvSpPr txBox="1"/>
          <p:nvPr/>
        </p:nvSpPr>
        <p:spPr>
          <a:xfrm>
            <a:off x="585163" y="602601"/>
            <a:ext cx="386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2 in the Cloud / Web &amp; DB Server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733CC-E7B1-CC4C-981E-5A40597B3FA5}"/>
              </a:ext>
            </a:extLst>
          </p:cNvPr>
          <p:cNvSpPr txBox="1"/>
          <p:nvPr/>
        </p:nvSpPr>
        <p:spPr>
          <a:xfrm>
            <a:off x="7846113" y="678013"/>
            <a:ext cx="386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3 in the Cloud / Web &amp; DB Server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8C2D59-0F2A-B245-BD5F-821D997F14DF}"/>
              </a:ext>
            </a:extLst>
          </p:cNvPr>
          <p:cNvCxnSpPr>
            <a:cxnSpLocks/>
          </p:cNvCxnSpPr>
          <p:nvPr/>
        </p:nvCxnSpPr>
        <p:spPr>
          <a:xfrm>
            <a:off x="2067611" y="3870424"/>
            <a:ext cx="1153073" cy="1384623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830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14723F-22E0-FD4D-A4A9-DAE80CE75DF8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4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214664" y="609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Data Replication</a:t>
            </a:r>
          </a:p>
        </p:txBody>
      </p:sp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760818"/>
            <a:ext cx="9762671" cy="4261692"/>
          </a:xfrm>
        </p:spPr>
        <p:txBody>
          <a:bodyPr>
            <a:normAutofit lnSpcReduction="10000"/>
          </a:bodyPr>
          <a:lstStyle/>
          <a:p>
            <a:pPr marL="381000" indent="-381000">
              <a:lnSpc>
                <a:spcPct val="120000"/>
              </a:lnSpc>
            </a:pPr>
            <a:r>
              <a:rPr lang="en-US" altLang="en-US" dirty="0"/>
              <a:t>A relation or fragment of a relation is replicated if it is stored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redundantly</a:t>
            </a:r>
            <a:r>
              <a:rPr lang="en-US" altLang="en-US" dirty="0"/>
              <a:t> in two or more sites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Full replication </a:t>
            </a:r>
            <a:r>
              <a:rPr lang="en-US" altLang="en-US" dirty="0"/>
              <a:t>– a relation is stored at all sites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Partial replication </a:t>
            </a:r>
            <a:r>
              <a:rPr lang="en-US" altLang="en-US" dirty="0"/>
              <a:t>-- a fragment of a relation is stored in two or more sites; each site may have the same or different fragments depending on some replication and fragmentation criteria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dirty="0"/>
              <a:t>Fully redundant databases – every site contains a copy of the entire database</a:t>
            </a:r>
          </a:p>
        </p:txBody>
      </p:sp>
    </p:spTree>
    <p:extLst>
      <p:ext uri="{BB962C8B-B14F-4D97-AF65-F5344CB8AC3E}">
        <p14:creationId xmlns:p14="http://schemas.microsoft.com/office/powerpoint/2010/main" val="21347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815385-983D-DF4C-8639-DD786EF999DB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4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214664" y="609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Data Fragmentation</a:t>
            </a:r>
          </a:p>
        </p:txBody>
      </p:sp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772025"/>
            <a:ext cx="9762671" cy="4223592"/>
          </a:xfrm>
        </p:spPr>
        <p:txBody>
          <a:bodyPr>
            <a:normAutofit/>
          </a:bodyPr>
          <a:lstStyle/>
          <a:p>
            <a:pPr marL="381000" indent="-381000">
              <a:lnSpc>
                <a:spcPct val="120000"/>
              </a:lnSpc>
            </a:pPr>
            <a:r>
              <a:rPr lang="en-US" altLang="en-US" dirty="0"/>
              <a:t>Division of relation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altLang="en-US" dirty="0"/>
              <a:t> into fragments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altLang="en-US" baseline="-250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, r</a:t>
            </a:r>
            <a:r>
              <a:rPr lang="en-US" altLang="en-US" baseline="-250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, ..., </a:t>
            </a:r>
            <a:r>
              <a:rPr lang="en-US" altLang="en-US" dirty="0" err="1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altLang="en-US" baseline="-25000" dirty="0" err="1">
                <a:solidFill>
                  <a:schemeClr val="accent2">
                    <a:lumMod val="50000"/>
                  </a:schemeClr>
                </a:solidFill>
              </a:rPr>
              <a:t>n</a:t>
            </a:r>
            <a:r>
              <a:rPr lang="en-US" altLang="en-US" dirty="0"/>
              <a:t> each of which contains sufficient information to reconstruct the full relation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altLang="en-US" dirty="0"/>
              <a:t>.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Horizontal fragmentation </a:t>
            </a:r>
            <a:r>
              <a:rPr lang="en-US" altLang="en-US" dirty="0"/>
              <a:t>– each tuple of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altLang="en-US" dirty="0"/>
              <a:t> is assigned to one or more fragments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Vertical fragmentation </a:t>
            </a:r>
            <a:r>
              <a:rPr lang="en-US" altLang="en-US" dirty="0"/>
              <a:t>– the schema for relation </a:t>
            </a: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en-US" altLang="en-US" dirty="0"/>
              <a:t> is split into several smaller schemas</a:t>
            </a:r>
          </a:p>
        </p:txBody>
      </p:sp>
    </p:spTree>
    <p:extLst>
      <p:ext uri="{BB962C8B-B14F-4D97-AF65-F5344CB8AC3E}">
        <p14:creationId xmlns:p14="http://schemas.microsoft.com/office/powerpoint/2010/main" val="208361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815385-983D-DF4C-8639-DD786EF999DB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4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214664" y="609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Transparency in Distributed Database</a:t>
            </a:r>
          </a:p>
        </p:txBody>
      </p:sp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758578"/>
            <a:ext cx="9762671" cy="4629522"/>
          </a:xfrm>
        </p:spPr>
        <p:txBody>
          <a:bodyPr>
            <a:normAutofit/>
          </a:bodyPr>
          <a:lstStyle/>
          <a:p>
            <a:pPr marL="381000" indent="-381000">
              <a:lnSpc>
                <a:spcPct val="120000"/>
              </a:lnSpc>
            </a:pPr>
            <a:r>
              <a:rPr lang="en-US" altLang="en-US" sz="2400" dirty="0"/>
              <a:t>Details of the number of nodes and how data is distributed – replicated and fragmented – across the network are </a:t>
            </a:r>
            <a:r>
              <a:rPr lang="en-US" altLang="en-US" sz="2400" i="1" dirty="0">
                <a:solidFill>
                  <a:schemeClr val="accent2">
                    <a:lumMod val="50000"/>
                  </a:schemeClr>
                </a:solidFill>
              </a:rPr>
              <a:t>hidden</a:t>
            </a:r>
            <a:r>
              <a:rPr lang="en-US" altLang="en-US" sz="2400" dirty="0"/>
              <a:t> from the user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2400" dirty="0"/>
              <a:t>A user may perform the same transactions and access the same data at any of the sites (nodes) without knowing the actual location of the data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2400" dirty="0"/>
              <a:t>Types:</a:t>
            </a:r>
          </a:p>
          <a:p>
            <a:pPr marL="838200" lvl="1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Location transparency</a:t>
            </a:r>
          </a:p>
          <a:p>
            <a:pPr marL="838200" lvl="1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Fragmentation transparency</a:t>
            </a:r>
          </a:p>
          <a:p>
            <a:pPr marL="838200" lvl="1" indent="-381000">
              <a:lnSpc>
                <a:spcPct val="12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Replication transparency</a:t>
            </a:r>
          </a:p>
        </p:txBody>
      </p:sp>
    </p:spTree>
    <p:extLst>
      <p:ext uri="{BB962C8B-B14F-4D97-AF65-F5344CB8AC3E}">
        <p14:creationId xmlns:p14="http://schemas.microsoft.com/office/powerpoint/2010/main" val="299956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994745" y="1935908"/>
            <a:ext cx="10510490" cy="427439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/>
              <a:t>Tasks: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en-US" dirty="0"/>
              <a:t>Work on Exercise 05 – Distributed Databases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en-US" dirty="0"/>
              <a:t>Build a Distributed Database System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en-US" dirty="0"/>
              <a:t>Simulate Concurrency Control and Replication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en-US" dirty="0"/>
              <a:t>Simulate Global Failure and Recovery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en-US" dirty="0"/>
              <a:t>Evaluation – method, results, analysis of results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en-US" dirty="0"/>
              <a:t>Technical Report Writing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MCO2 Transaction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43156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uter clip art free download clipart images - Clipartix">
            <a:extLst>
              <a:ext uri="{FF2B5EF4-FFF2-40B4-BE49-F238E27FC236}">
                <a16:creationId xmlns:a16="http://schemas.microsoft.com/office/drawing/2014/main" id="{A155D07F-63F2-E54C-A517-E4C3B7382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98" y="965200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omputer clip art free download clipart images - Clipartix">
            <a:extLst>
              <a:ext uri="{FF2B5EF4-FFF2-40B4-BE49-F238E27FC236}">
                <a16:creationId xmlns:a16="http://schemas.microsoft.com/office/drawing/2014/main" id="{9D433A96-44C7-4040-8BFD-B097398D1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099" y="3574957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omputer clip art free download clipart images - Clipartix">
            <a:extLst>
              <a:ext uri="{FF2B5EF4-FFF2-40B4-BE49-F238E27FC236}">
                <a16:creationId xmlns:a16="http://schemas.microsoft.com/office/drawing/2014/main" id="{C4E6AD0F-C942-294E-9A04-C77BDFDAE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204" y="965200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F63B8B-8E26-6045-922A-2D25C78B3292}"/>
              </a:ext>
            </a:extLst>
          </p:cNvPr>
          <p:cNvCxnSpPr/>
          <p:nvPr/>
        </p:nvCxnSpPr>
        <p:spPr>
          <a:xfrm>
            <a:off x="4451350" y="1960406"/>
            <a:ext cx="3015049" cy="0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266B0-A477-0947-BD60-C2EE9EA49926}"/>
              </a:ext>
            </a:extLst>
          </p:cNvPr>
          <p:cNvCxnSpPr>
            <a:cxnSpLocks/>
          </p:cNvCxnSpPr>
          <p:nvPr/>
        </p:nvCxnSpPr>
        <p:spPr>
          <a:xfrm flipH="1">
            <a:off x="8284684" y="3716187"/>
            <a:ext cx="1494523" cy="1384623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96DDDC-C942-754B-9D28-4F64EA985879}"/>
              </a:ext>
            </a:extLst>
          </p:cNvPr>
          <p:cNvSpPr txBox="1"/>
          <p:nvPr/>
        </p:nvSpPr>
        <p:spPr>
          <a:xfrm>
            <a:off x="3914731" y="6070733"/>
            <a:ext cx="4362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1 in the Cloud / Web &amp; DB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FF0406-7234-1146-98A9-C33A36E8B792}"/>
              </a:ext>
            </a:extLst>
          </p:cNvPr>
          <p:cNvSpPr txBox="1"/>
          <p:nvPr/>
        </p:nvSpPr>
        <p:spPr>
          <a:xfrm>
            <a:off x="585163" y="602601"/>
            <a:ext cx="386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2 in the Cloud / Web &amp; DB Server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733CC-E7B1-CC4C-981E-5A40597B3FA5}"/>
              </a:ext>
            </a:extLst>
          </p:cNvPr>
          <p:cNvSpPr txBox="1"/>
          <p:nvPr/>
        </p:nvSpPr>
        <p:spPr>
          <a:xfrm>
            <a:off x="7846113" y="678013"/>
            <a:ext cx="386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3 in the Cloud / Web &amp; DB Server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8C2D59-0F2A-B245-BD5F-821D997F14DF}"/>
              </a:ext>
            </a:extLst>
          </p:cNvPr>
          <p:cNvCxnSpPr>
            <a:cxnSpLocks/>
          </p:cNvCxnSpPr>
          <p:nvPr/>
        </p:nvCxnSpPr>
        <p:spPr>
          <a:xfrm>
            <a:off x="2067611" y="3870424"/>
            <a:ext cx="1153073" cy="1384623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17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BE7C56-A724-5B46-80F0-83C8B22D7D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88" r="9835"/>
          <a:stretch/>
        </p:blipFill>
        <p:spPr>
          <a:xfrm>
            <a:off x="1844565" y="541703"/>
            <a:ext cx="7704549" cy="59942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1EC4E9-36EA-A945-9F10-C538E875535D}"/>
              </a:ext>
            </a:extLst>
          </p:cNvPr>
          <p:cNvSpPr txBox="1"/>
          <p:nvPr/>
        </p:nvSpPr>
        <p:spPr>
          <a:xfrm>
            <a:off x="8294069" y="178044"/>
            <a:ext cx="1809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/ DB 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31344-243A-CF45-892F-991B75C41A3F}"/>
              </a:ext>
            </a:extLst>
          </p:cNvPr>
          <p:cNvSpPr txBox="1"/>
          <p:nvPr/>
        </p:nvSpPr>
        <p:spPr>
          <a:xfrm>
            <a:off x="6650938" y="178044"/>
            <a:ext cx="127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29614-CF87-E24E-BE4F-D8A9DAEDF7A0}"/>
              </a:ext>
            </a:extLst>
          </p:cNvPr>
          <p:cNvSpPr txBox="1"/>
          <p:nvPr/>
        </p:nvSpPr>
        <p:spPr>
          <a:xfrm>
            <a:off x="4382839" y="178044"/>
            <a:ext cx="1713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/ Browser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E6867-20B7-0F8D-5A6B-610A8CFB6CB1}"/>
              </a:ext>
            </a:extLst>
          </p:cNvPr>
          <p:cNvSpPr txBox="1"/>
          <p:nvPr/>
        </p:nvSpPr>
        <p:spPr>
          <a:xfrm>
            <a:off x="9549114" y="1001776"/>
            <a:ext cx="734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Luzon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37F17-C705-7906-0292-C6FB6F815732}"/>
              </a:ext>
            </a:extLst>
          </p:cNvPr>
          <p:cNvSpPr txBox="1"/>
          <p:nvPr/>
        </p:nvSpPr>
        <p:spPr>
          <a:xfrm>
            <a:off x="9549114" y="3354184"/>
            <a:ext cx="1404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| Full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5E5C6-661E-0618-0EA3-72D11DA4BE9E}"/>
              </a:ext>
            </a:extLst>
          </p:cNvPr>
          <p:cNvSpPr txBox="1"/>
          <p:nvPr/>
        </p:nvSpPr>
        <p:spPr>
          <a:xfrm>
            <a:off x="9549114" y="567155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VizMin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55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1D8EF-9BA6-7645-9C28-18454EF19F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77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5FCB29-E362-C347-A9B9-6746DAC3125E}"/>
              </a:ext>
            </a:extLst>
          </p:cNvPr>
          <p:cNvSpPr txBox="1"/>
          <p:nvPr/>
        </p:nvSpPr>
        <p:spPr>
          <a:xfrm>
            <a:off x="6616034" y="1365932"/>
            <a:ext cx="163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Controller layer</a:t>
            </a:r>
          </a:p>
        </p:txBody>
      </p:sp>
    </p:spTree>
    <p:extLst>
      <p:ext uri="{BB962C8B-B14F-4D97-AF65-F5344CB8AC3E}">
        <p14:creationId xmlns:p14="http://schemas.microsoft.com/office/powerpoint/2010/main" val="812320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7164" y="1758108"/>
            <a:ext cx="10707260" cy="427439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2400" dirty="0"/>
              <a:t>Nodes: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Create and deploy your nodes – CCS Cloud or 3</a:t>
            </a:r>
            <a:r>
              <a:rPr lang="en-US" altLang="en-US" sz="2400" baseline="30000" dirty="0"/>
              <a:t>rd</a:t>
            </a:r>
            <a:r>
              <a:rPr lang="en-US" altLang="en-US" sz="2400" dirty="0"/>
              <a:t> party cloud service providers</a:t>
            </a:r>
          </a:p>
          <a:p>
            <a:pPr lvl="1">
              <a:lnSpc>
                <a:spcPct val="120000"/>
              </a:lnSpc>
            </a:pPr>
            <a:r>
              <a:rPr lang="en-PH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Node 1 (Central Node): All rows in the main database </a:t>
            </a:r>
            <a:endParaRPr lang="en-PH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PH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Node 2: Partition of rows based on a specified database fragmentation criterion</a:t>
            </a:r>
            <a:endParaRPr lang="en-PH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PH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Node 3: Partition of rows based on a specified database fragmentation criterion</a:t>
            </a:r>
          </a:p>
          <a:p>
            <a:pPr>
              <a:lnSpc>
                <a:spcPct val="120000"/>
              </a:lnSpc>
              <a:spcBef>
                <a:spcPts val="2400"/>
              </a:spcBef>
            </a:pPr>
            <a:r>
              <a:rPr lang="en-PH" sz="2400" dirty="0">
                <a:latin typeface="Calibri" panose="020F0502020204030204" pitchFamily="34" charset="0"/>
                <a:cs typeface="Calibri" panose="020F0502020204030204" pitchFamily="34" charset="0"/>
              </a:rPr>
              <a:t>Each node hosts its own </a:t>
            </a:r>
            <a:r>
              <a:rPr lang="en-PH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DB server and web server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2400" dirty="0"/>
              <a:t>A web application should be loaded into each node to manage the accessibility of the database across multiple sites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164" y="656804"/>
            <a:ext cx="9377136" cy="6858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/>
                </a:solidFill>
              </a:rPr>
              <a:t>2. Build your distributed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4056345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7164" y="1796208"/>
            <a:ext cx="10707260" cy="427439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/>
              <a:t>Design decisions:</a:t>
            </a:r>
          </a:p>
          <a:p>
            <a:pPr>
              <a:lnSpc>
                <a:spcPct val="120000"/>
              </a:lnSpc>
            </a:pPr>
            <a:r>
              <a:rPr lang="en-PH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DB schema: Extract one table with few columns and approximately 20,000 rows from the source dataset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Referencing Exercise 05, </a:t>
            </a:r>
          </a:p>
          <a:p>
            <a:pPr lvl="1">
              <a:lnSpc>
                <a:spcPct val="120000"/>
              </a:lnSpc>
            </a:pPr>
            <a:r>
              <a:rPr lang="en-US" altLang="en-US" i="1" dirty="0"/>
              <a:t>What is your fragmentation criterion? How will you fragment the assigned dataset across Nodes 02 and 03</a:t>
            </a:r>
            <a:r>
              <a:rPr lang="en-US" altLang="en-US" dirty="0"/>
              <a:t>?</a:t>
            </a:r>
          </a:p>
          <a:p>
            <a:pPr lvl="1">
              <a:lnSpc>
                <a:spcPct val="120000"/>
              </a:lnSpc>
            </a:pPr>
            <a:r>
              <a:rPr lang="en-US" altLang="en-US" i="1" dirty="0"/>
              <a:t>How will data transparency be supported by the web application</a:t>
            </a:r>
            <a:r>
              <a:rPr lang="en-US" altLang="en-US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164" y="656804"/>
            <a:ext cx="9377136" cy="6858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/>
                </a:solidFill>
              </a:rPr>
              <a:t>2. Build your distributed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13673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7164" y="1752600"/>
            <a:ext cx="10080171" cy="46355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Code your web application </a:t>
            </a:r>
            <a:r>
              <a:rPr lang="en-US" altLang="en-US" sz="2400" dirty="0">
                <a:sym typeface="Wingdings" pitchFamily="2" charset="2"/>
              </a:rPr>
              <a:t> </a:t>
            </a:r>
            <a:r>
              <a:rPr lang="en-US" altLang="en-US" sz="2400" dirty="0">
                <a:solidFill>
                  <a:srgbClr val="C00000"/>
                </a:solidFill>
                <a:sym typeface="Wingdings" pitchFamily="2" charset="2"/>
              </a:rPr>
              <a:t>AI generated code will merit a grade of 0</a:t>
            </a:r>
            <a:endParaRPr lang="en-US" altLang="en-US" sz="2400" dirty="0"/>
          </a:p>
          <a:p>
            <a:pPr>
              <a:lnSpc>
                <a:spcPct val="120000"/>
              </a:lnSpc>
            </a:pPr>
            <a:r>
              <a:rPr lang="en-US" altLang="en-US" sz="2400" dirty="0"/>
              <a:t>Support </a:t>
            </a:r>
            <a:r>
              <a:rPr lang="en-PH" sz="2400" dirty="0">
                <a:effectLst/>
                <a:ea typeface="Times New Roman" panose="02020603050405020304" pitchFamily="18" charset="0"/>
              </a:rPr>
              <a:t>concurrently executing transactions in two or more nodes and they all leave the database in a consistent state</a:t>
            </a:r>
            <a:endParaRPr lang="en-US" altLang="en-US" sz="2400" dirty="0"/>
          </a:p>
          <a:p>
            <a:pPr>
              <a:lnSpc>
                <a:spcPct val="120000"/>
              </a:lnSpc>
            </a:pPr>
            <a:r>
              <a:rPr lang="en-US" altLang="en-US" sz="2400" dirty="0"/>
              <a:t>Simulate the following cases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200" dirty="0"/>
              <a:t>Concurrent transactions in 2 or more nodes are reading the same data item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200" dirty="0"/>
              <a:t>At least one transaction in the 3 nodes is writing (update / delete) and the other concurrent transactions are reading the same data item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200" dirty="0"/>
              <a:t>Concurrent transactions in 2 or more nodes are writing (update / delete) the same data item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050">
            <a:extLst>
              <a:ext uri="{FF2B5EF4-FFF2-40B4-BE49-F238E27FC236}">
                <a16:creationId xmlns:a16="http://schemas.microsoft.com/office/drawing/2014/main" id="{41A685BA-0C54-EC44-A019-A27E54267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164" y="656804"/>
            <a:ext cx="10926536" cy="6858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/>
                </a:solidFill>
              </a:rPr>
              <a:t>3. Simulate Concurrency Control and Replication</a:t>
            </a:r>
          </a:p>
        </p:txBody>
      </p:sp>
    </p:spTree>
    <p:extLst>
      <p:ext uri="{BB962C8B-B14F-4D97-AF65-F5344CB8AC3E}">
        <p14:creationId xmlns:p14="http://schemas.microsoft.com/office/powerpoint/2010/main" val="2771439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7164" y="1752600"/>
            <a:ext cx="10522530" cy="477520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2000" dirty="0"/>
              <a:t>Design decisions:</a:t>
            </a:r>
          </a:p>
          <a:p>
            <a:pPr>
              <a:lnSpc>
                <a:spcPct val="120000"/>
              </a:lnSpc>
            </a:pPr>
            <a:r>
              <a:rPr lang="en-PH" sz="2000" b="0" dirty="0">
                <a:effectLst/>
              </a:rPr>
              <a:t>Test each case on each of the following isolation levels: </a:t>
            </a:r>
            <a:r>
              <a:rPr lang="en-US" altLang="en-US" sz="2000" dirty="0">
                <a:solidFill>
                  <a:schemeClr val="accent5">
                    <a:lumMod val="75000"/>
                  </a:schemeClr>
                </a:solidFill>
              </a:rPr>
              <a:t>read uncommitted, read committed, read repeatable and serializable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Based on the experiments, set the final isolation level for the web application to one that can support the highest volume of concurrent transactions while leaving the DB in a consistent state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Show that concurrently executing transactions in two or more nodes will leave the database in a consistent state</a:t>
            </a:r>
          </a:p>
          <a:p>
            <a:pPr>
              <a:lnSpc>
                <a:spcPct val="120000"/>
              </a:lnSpc>
            </a:pPr>
            <a:r>
              <a:rPr lang="en-PH" sz="2000" b="0" i="1" dirty="0">
                <a:solidFill>
                  <a:schemeClr val="accent2">
                    <a:lumMod val="75000"/>
                  </a:schemeClr>
                </a:solidFill>
                <a:effectLst/>
              </a:rPr>
              <a:t>You must code your own replication and update strategies</a:t>
            </a:r>
            <a:r>
              <a:rPr lang="en-PH" sz="2000" b="0" i="1" dirty="0">
                <a:effectLst/>
              </a:rPr>
              <a:t>. Updates in either Node 2 or Node 3 should be replicated in the central node. Any updates in the central node should be replicated in either Node 2 or Node 3. </a:t>
            </a:r>
            <a:endParaRPr lang="en-PH" sz="2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154B9FD9-15FE-799C-A752-E36037281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164" y="656804"/>
            <a:ext cx="10926536" cy="6858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/>
                </a:solidFill>
              </a:rPr>
              <a:t>3. Simulate Concurrency Control and Replication</a:t>
            </a:r>
          </a:p>
        </p:txBody>
      </p:sp>
    </p:spTree>
    <p:extLst>
      <p:ext uri="{BB962C8B-B14F-4D97-AF65-F5344CB8AC3E}">
        <p14:creationId xmlns:p14="http://schemas.microsoft.com/office/powerpoint/2010/main" val="3048590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011464" y="1752600"/>
            <a:ext cx="9762671" cy="427439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2000" dirty="0"/>
              <a:t>Extend the web application </a:t>
            </a:r>
            <a:r>
              <a:rPr lang="en-US" altLang="en-US" sz="2000" dirty="0">
                <a:sym typeface="Wingdings" pitchFamily="2" charset="2"/>
              </a:rPr>
              <a:t> </a:t>
            </a:r>
            <a:r>
              <a:rPr lang="en-US" altLang="en-US" sz="2000" dirty="0">
                <a:solidFill>
                  <a:srgbClr val="C00000"/>
                </a:solidFill>
                <a:sym typeface="Wingdings" pitchFamily="2" charset="2"/>
              </a:rPr>
              <a:t>AI generated code will merit a grade of 0</a:t>
            </a:r>
            <a:endParaRPr lang="en-US" altLang="en-US" sz="2000" dirty="0"/>
          </a:p>
          <a:p>
            <a:pPr>
              <a:lnSpc>
                <a:spcPct val="120000"/>
              </a:lnSpc>
            </a:pPr>
            <a:r>
              <a:rPr lang="en-US" altLang="en-US" sz="2000" dirty="0"/>
              <a:t>Simulate </a:t>
            </a:r>
            <a:r>
              <a:rPr lang="en-US" altLang="en-US" sz="2000" u="sng" dirty="0"/>
              <a:t>global</a:t>
            </a:r>
            <a:r>
              <a:rPr lang="en-US" altLang="en-US" sz="2000" dirty="0"/>
              <a:t> crash and recovery when global transactions are executing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Show how the system will recover from failure for each of the cases below:</a:t>
            </a:r>
          </a:p>
          <a:p>
            <a:pPr marL="800100" lvl="1" indent="-342900" algn="just">
              <a:lnSpc>
                <a:spcPct val="110000"/>
              </a:lnSpc>
              <a:spcBef>
                <a:spcPts val="200"/>
              </a:spcBef>
              <a:buFont typeface="+mj-lt"/>
              <a:buAutoNum type="alphaLcPeriod"/>
            </a:pPr>
            <a:r>
              <a:rPr lang="en-PH" sz="1800" b="0" dirty="0">
                <a:effectLst/>
              </a:rPr>
              <a:t>Case #1: When attempting to replicate the transaction from Node 2 or Node 3 to the central node, the transaction fails in writing (insert / update) to the central node. </a:t>
            </a:r>
            <a:endParaRPr lang="en-PH" sz="1800" b="1" dirty="0">
              <a:effectLst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200"/>
              </a:spcBef>
              <a:buFont typeface="+mj-lt"/>
              <a:buAutoNum type="alphaLcPeriod"/>
            </a:pPr>
            <a:r>
              <a:rPr lang="en-PH" sz="1800" b="0" dirty="0">
                <a:effectLst/>
              </a:rPr>
              <a:t>Case #2: The central node eventually recovers from failure (i.e., comes back online) and missed certain write (insert / update) transactions.</a:t>
            </a:r>
            <a:endParaRPr lang="en-PH" sz="1800" b="1" dirty="0">
              <a:effectLst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200"/>
              </a:spcBef>
              <a:buFont typeface="+mj-lt"/>
              <a:buAutoNum type="alphaLcPeriod"/>
            </a:pPr>
            <a:r>
              <a:rPr lang="en-PH" sz="1800" b="0" dirty="0">
                <a:effectLst/>
              </a:rPr>
              <a:t>Case #3: When attempting to replicate the transaction from central node to either Node 2 or Node 3, the transaction fails in writing (insert / update) to Node 2 or Node 3.</a:t>
            </a:r>
            <a:endParaRPr lang="en-PH" sz="1800" b="1" dirty="0">
              <a:effectLst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200"/>
              </a:spcBef>
              <a:buFont typeface="+mj-lt"/>
              <a:buAutoNum type="alphaLcPeriod"/>
            </a:pPr>
            <a:r>
              <a:rPr lang="en-PH" sz="1800" b="0" dirty="0">
                <a:effectLst/>
              </a:rPr>
              <a:t>Case #4: Node 2 or Node 3 eventually recovers from failure (i.e., comes back online) and missed certain write (insert / update) transactions.</a:t>
            </a:r>
            <a:endParaRPr lang="en-PH" sz="1800" b="1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050">
            <a:extLst>
              <a:ext uri="{FF2B5EF4-FFF2-40B4-BE49-F238E27FC236}">
                <a16:creationId xmlns:a16="http://schemas.microsoft.com/office/drawing/2014/main" id="{96413DD3-E396-7488-B080-36BF186A6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164" y="656804"/>
            <a:ext cx="10926536" cy="6858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/>
                </a:solidFill>
              </a:rPr>
              <a:t>4. Simulate Global Failure and Recovery</a:t>
            </a:r>
          </a:p>
        </p:txBody>
      </p:sp>
    </p:spTree>
    <p:extLst>
      <p:ext uri="{BB962C8B-B14F-4D97-AF65-F5344CB8AC3E}">
        <p14:creationId xmlns:p14="http://schemas.microsoft.com/office/powerpoint/2010/main" val="2194312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927100" y="1935908"/>
            <a:ext cx="10522530" cy="427439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/>
              <a:t>Design decisions:</a:t>
            </a:r>
          </a:p>
          <a:p>
            <a:pPr>
              <a:lnSpc>
                <a:spcPct val="120000"/>
              </a:lnSpc>
            </a:pPr>
            <a:r>
              <a:rPr lang="en-PH" sz="2000" b="0" i="1" dirty="0">
                <a:solidFill>
                  <a:schemeClr val="accent2">
                    <a:lumMod val="75000"/>
                  </a:schemeClr>
                </a:solidFill>
                <a:effectLst/>
              </a:rPr>
              <a:t>You must code your own recovery strategy.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How are users shielded from node failure? In other words, </a:t>
            </a:r>
            <a:r>
              <a:rPr lang="en-US" altLang="en-US" sz="2000" i="1" dirty="0"/>
              <a:t>when a node fails, how does your data replication strategy support the continued availability of the distributed database system</a:t>
            </a:r>
            <a:r>
              <a:rPr lang="en-US" altLang="en-US" sz="2000" dirty="0"/>
              <a:t>?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For each of the node failure cases above, </a:t>
            </a:r>
            <a:r>
              <a:rPr lang="en-US" altLang="en-US" sz="2000" i="1" dirty="0"/>
              <a:t>how does your data replication strategy support the recovery of your distributed database system from failure</a:t>
            </a:r>
            <a:r>
              <a:rPr lang="en-US" altLang="en-US" sz="2000" dirty="0"/>
              <a:t>?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What happens during a recovery operation? </a:t>
            </a:r>
            <a:r>
              <a:rPr lang="en-US" altLang="en-US" sz="2000" i="1" dirty="0"/>
              <a:t>What facilities did you build to support your distributed database during a recovery operation</a:t>
            </a:r>
            <a:r>
              <a:rPr lang="en-US" altLang="en-US" sz="2000" dirty="0"/>
              <a:t>?</a:t>
            </a:r>
            <a:endParaRPr lang="en-US" altLang="en-US" sz="2000" i="1"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755AD7C9-63FC-A852-5761-2F2041074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164" y="656804"/>
            <a:ext cx="10926536" cy="685800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bg1"/>
                </a:solidFill>
              </a:rPr>
              <a:t>4. Simulate Global Failure and Recovery</a:t>
            </a:r>
          </a:p>
        </p:txBody>
      </p:sp>
    </p:spTree>
    <p:extLst>
      <p:ext uri="{BB962C8B-B14F-4D97-AF65-F5344CB8AC3E}">
        <p14:creationId xmlns:p14="http://schemas.microsoft.com/office/powerpoint/2010/main" val="257409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7164" y="1778000"/>
            <a:ext cx="9762671" cy="427439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Write a test script for each of the test cases in Step 2 and Step 3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Test case number, Procedure (Action), Input, Expected output, Actual output, Test Result, Remarks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Reference: Software Engineering class, Software Testing tutorials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Execute each test case 3x and log your results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Submit the Test Script as part of your Supplementary Materials</a:t>
            </a: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050">
            <a:extLst>
              <a:ext uri="{FF2B5EF4-FFF2-40B4-BE49-F238E27FC236}">
                <a16:creationId xmlns:a16="http://schemas.microsoft.com/office/drawing/2014/main" id="{DF07CE79-C3EB-AD1F-4AF8-22AF23F14E6C}"/>
              </a:ext>
            </a:extLst>
          </p:cNvPr>
          <p:cNvSpPr txBox="1">
            <a:spLocks noChangeArrowheads="1"/>
          </p:cNvSpPr>
          <p:nvPr/>
        </p:nvSpPr>
        <p:spPr>
          <a:xfrm>
            <a:off x="897164" y="656804"/>
            <a:ext cx="10926536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chemeClr val="bg1"/>
                </a:solidFill>
              </a:rPr>
              <a:t>5. Evaluation</a:t>
            </a:r>
          </a:p>
        </p:txBody>
      </p:sp>
    </p:spTree>
    <p:extLst>
      <p:ext uri="{BB962C8B-B14F-4D97-AF65-F5344CB8AC3E}">
        <p14:creationId xmlns:p14="http://schemas.microsoft.com/office/powerpoint/2010/main" val="636684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28800"/>
            <a:ext cx="9762671" cy="4699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Introduction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Distributed Database Design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Concurrency Control (algorithm, experiment, test results)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Global Failure and Recovery (algorithm, experiment, test results)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Discussion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Conclusion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References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Declarations </a:t>
            </a:r>
            <a:r>
              <a:rPr lang="en-US" altLang="en-US" dirty="0">
                <a:sym typeface="Wingdings" pitchFamily="2" charset="2"/>
              </a:rPr>
              <a:t> </a:t>
            </a:r>
            <a:r>
              <a:rPr lang="en-US" altLang="en-US" sz="2800" dirty="0">
                <a:solidFill>
                  <a:srgbClr val="C00000"/>
                </a:solidFill>
                <a:sym typeface="Wingdings" pitchFamily="2" charset="2"/>
              </a:rPr>
              <a:t>AI generated code will merit a grade of 0</a:t>
            </a:r>
            <a:endParaRPr lang="en-US" altLang="en-US" sz="2800" dirty="0"/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Technical Report</a:t>
            </a:r>
          </a:p>
        </p:txBody>
      </p:sp>
    </p:spTree>
    <p:extLst>
      <p:ext uri="{BB962C8B-B14F-4D97-AF65-F5344CB8AC3E}">
        <p14:creationId xmlns:p14="http://schemas.microsoft.com/office/powerpoint/2010/main" val="1424681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50900" y="1783508"/>
            <a:ext cx="10934700" cy="442679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Experimenting with concurrency control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Supporting database accessibility and transparency through </a:t>
            </a:r>
            <a:r>
              <a:rPr lang="en-US" altLang="en-US" sz="2400" i="1" dirty="0">
                <a:solidFill>
                  <a:srgbClr val="0070C0"/>
                </a:solidFill>
              </a:rPr>
              <a:t>Replication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Maintaining database consistency through through </a:t>
            </a:r>
            <a:r>
              <a:rPr lang="en-US" altLang="en-US" sz="2400" i="1" dirty="0">
                <a:solidFill>
                  <a:srgbClr val="0070C0"/>
                </a:solidFill>
              </a:rPr>
              <a:t>Isolation Levels and Locking</a:t>
            </a:r>
            <a:endParaRPr lang="en-US" altLang="en-US" sz="2400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400" dirty="0"/>
              <a:t>Recovering from failure through </a:t>
            </a:r>
            <a:r>
              <a:rPr lang="en-US" altLang="en-US" sz="2400" i="1" dirty="0">
                <a:solidFill>
                  <a:srgbClr val="0070C0"/>
                </a:solidFill>
              </a:rPr>
              <a:t>Log-based recovery strategies</a:t>
            </a:r>
          </a:p>
          <a:p>
            <a:pPr>
              <a:lnSpc>
                <a:spcPct val="120000"/>
              </a:lnSpc>
            </a:pPr>
            <a:r>
              <a:rPr lang="en-US" altLang="en-US" sz="2400" i="1" dirty="0"/>
              <a:t>Reminders: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C00000"/>
                </a:solidFill>
                <a:sym typeface="Wingdings" pitchFamily="2" charset="2"/>
              </a:rPr>
              <a:t>Plagiarized work – AI generated code and technical report – will merit a grade of 0 for MCO2</a:t>
            </a:r>
            <a:endParaRPr lang="en-US" altLang="en-US" dirty="0"/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C00000"/>
                </a:solidFill>
              </a:rPr>
              <a:t>Deductions for non-deployed web application and database server</a:t>
            </a:r>
            <a:r>
              <a:rPr lang="en-US" altLang="en-US" i="1" dirty="0"/>
              <a:t> (see rubric)</a:t>
            </a:r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0900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Core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666123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2057400"/>
            <a:ext cx="9762671" cy="427439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/>
              <a:t>Upload as </a:t>
            </a:r>
            <a:r>
              <a:rPr lang="en-US" altLang="en-US" u="sng" dirty="0"/>
              <a:t>separate files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Technical report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Supplementary materials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Source code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Test script with results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Presentation slides – after the presentation </a:t>
            </a: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647700"/>
            <a:ext cx="7907564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Deliverables: 01 December 2025</a:t>
            </a:r>
          </a:p>
        </p:txBody>
      </p:sp>
    </p:spTree>
    <p:extLst>
      <p:ext uri="{BB962C8B-B14F-4D97-AF65-F5344CB8AC3E}">
        <p14:creationId xmlns:p14="http://schemas.microsoft.com/office/powerpoint/2010/main" val="2373323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054100" y="1752600"/>
            <a:ext cx="10109200" cy="4274392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20-minutes presentation, 10-minutes Q&amp;A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Follow a presentation script</a:t>
            </a:r>
          </a:p>
          <a:p>
            <a:pPr lvl="1">
              <a:lnSpc>
                <a:spcPct val="120000"/>
              </a:lnSpc>
            </a:pPr>
            <a:r>
              <a:rPr lang="en-US" altLang="en-US" sz="2200" dirty="0"/>
              <a:t>Discuss your </a:t>
            </a:r>
            <a:r>
              <a:rPr lang="en-US" altLang="en-US" sz="2200" dirty="0">
                <a:solidFill>
                  <a:srgbClr val="0070C0"/>
                </a:solidFill>
              </a:rPr>
              <a:t>design</a:t>
            </a:r>
            <a:r>
              <a:rPr lang="en-US" altLang="en-US" sz="2200" dirty="0"/>
              <a:t> (node setup), </a:t>
            </a:r>
            <a:r>
              <a:rPr lang="en-US" altLang="en-US" sz="2200" dirty="0">
                <a:solidFill>
                  <a:srgbClr val="0070C0"/>
                </a:solidFill>
              </a:rPr>
              <a:t>implementation</a:t>
            </a:r>
            <a:r>
              <a:rPr lang="en-US" altLang="en-US" sz="2200" dirty="0"/>
              <a:t> (algorithms for global replication, update and recovery strategies), and </a:t>
            </a:r>
            <a:r>
              <a:rPr lang="en-US" altLang="en-US" sz="2200" dirty="0">
                <a:solidFill>
                  <a:srgbClr val="0070C0"/>
                </a:solidFill>
              </a:rPr>
              <a:t>results</a:t>
            </a:r>
          </a:p>
          <a:p>
            <a:pPr lvl="1">
              <a:lnSpc>
                <a:spcPct val="120000"/>
              </a:lnSpc>
            </a:pPr>
            <a:r>
              <a:rPr lang="en-US" altLang="en-US" sz="2200" dirty="0"/>
              <a:t>Demo of the web app via the CCS Cloud or 3</a:t>
            </a:r>
            <a:r>
              <a:rPr lang="en-US" altLang="en-US" sz="2200" baseline="30000" dirty="0"/>
              <a:t>rd</a:t>
            </a:r>
            <a:r>
              <a:rPr lang="en-US" altLang="en-US" sz="2200" dirty="0"/>
              <a:t> party servers – </a:t>
            </a:r>
            <a:r>
              <a:rPr lang="en-US" altLang="en-US" sz="2200" i="1" dirty="0">
                <a:solidFill>
                  <a:srgbClr val="0070C0"/>
                </a:solidFill>
              </a:rPr>
              <a:t>share the URL with your teacher</a:t>
            </a:r>
            <a:endParaRPr lang="en-US" altLang="en-US" sz="2200" dirty="0"/>
          </a:p>
          <a:p>
            <a:pPr>
              <a:lnSpc>
                <a:spcPct val="120000"/>
              </a:lnSpc>
            </a:pPr>
            <a:r>
              <a:rPr lang="en-US" altLang="en-US" sz="2400" dirty="0"/>
              <a:t>Show proof of implementation</a:t>
            </a:r>
          </a:p>
          <a:p>
            <a:pPr lvl="1">
              <a:lnSpc>
                <a:spcPct val="120000"/>
              </a:lnSpc>
            </a:pPr>
            <a:r>
              <a:rPr lang="en-US" altLang="en-US" sz="2200" dirty="0"/>
              <a:t>You may be asked to explain your source code for simulating concurrency and recovery</a:t>
            </a:r>
          </a:p>
          <a:p>
            <a:pPr>
              <a:lnSpc>
                <a:spcPct val="120000"/>
              </a:lnSpc>
            </a:pPr>
            <a:r>
              <a:rPr lang="en-US" altLang="en-US" sz="2600" dirty="0">
                <a:solidFill>
                  <a:schemeClr val="accent2">
                    <a:lumMod val="50000"/>
                  </a:schemeClr>
                </a:solidFill>
              </a:rPr>
              <a:t>Members who are late or absent will receive a grade of 0 for the presentation</a:t>
            </a:r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  <a:p>
            <a:pPr>
              <a:lnSpc>
                <a:spcPct val="120000"/>
              </a:lnSpc>
            </a:pPr>
            <a:endParaRPr lang="en-US" alt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9948636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Presentation: December 01 –05</a:t>
            </a:r>
          </a:p>
        </p:txBody>
      </p:sp>
    </p:spTree>
    <p:extLst>
      <p:ext uri="{BB962C8B-B14F-4D97-AF65-F5344CB8AC3E}">
        <p14:creationId xmlns:p14="http://schemas.microsoft.com/office/powerpoint/2010/main" val="791287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6100"/>
            <a:ext cx="9762671" cy="42743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Exercise judgment and critical thinking in designing your respective distributed database system to meet the core requirements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Code a web-based application to support concurrency, global replication and update, and recover from failures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Document design decisions, challenges encountered, and how these were addressed in the technical report</a:t>
            </a:r>
          </a:p>
          <a:p>
            <a:pPr>
              <a:lnSpc>
                <a:spcPct val="134000"/>
              </a:lnSpc>
            </a:pPr>
            <a:r>
              <a:rPr lang="en-US" altLang="en-US" dirty="0"/>
              <a:t>Formulate and execute a clear methodology (experiment) to validate that your distributed database is allowing concurrent transactions to execute and maintaining data consistency while having the ability to recover from failures</a:t>
            </a:r>
          </a:p>
          <a:p>
            <a:pPr>
              <a:lnSpc>
                <a:spcPct val="120000"/>
              </a:lnSpc>
            </a:pPr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Reminders</a:t>
            </a:r>
          </a:p>
        </p:txBody>
      </p:sp>
    </p:spTree>
    <p:extLst>
      <p:ext uri="{BB962C8B-B14F-4D97-AF65-F5344CB8AC3E}">
        <p14:creationId xmlns:p14="http://schemas.microsoft.com/office/powerpoint/2010/main" val="4022173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5548"/>
            <a:ext cx="9762671" cy="475753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What database schema should be used?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endParaRPr lang="en-US" alt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As you've seen in </a:t>
            </a:r>
            <a:r>
              <a:rPr lang="en-PH" sz="2400" i="1" dirty="0">
                <a:solidFill>
                  <a:srgbClr val="2D3B45"/>
                </a:solidFill>
                <a:effectLst/>
              </a:rPr>
              <a:t>HO3 Isolation levels</a:t>
            </a:r>
            <a:r>
              <a:rPr lang="en-PH" sz="2400" b="0" i="0" dirty="0">
                <a:solidFill>
                  <a:srgbClr val="2D3B45"/>
                </a:solidFill>
                <a:effectLst/>
              </a:rPr>
              <a:t>, experimenting with concurrency control and recovery does not require a complex database schema.</a:t>
            </a:r>
          </a:p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endParaRPr lang="en-PH" sz="2400" dirty="0">
              <a:solidFill>
                <a:srgbClr val="2D3B45"/>
              </a:solidFill>
            </a:endParaRPr>
          </a:p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For MCO2, to avoid dealing with issues in managing foreign keys and executing joins, a </a:t>
            </a:r>
            <a:r>
              <a:rPr lang="en-PH" sz="2400" b="1" i="0" dirty="0">
                <a:solidFill>
                  <a:schemeClr val="accent2">
                    <a:lumMod val="50000"/>
                  </a:schemeClr>
                </a:solidFill>
                <a:effectLst/>
              </a:rPr>
              <a:t>denormalized single table</a:t>
            </a:r>
            <a:r>
              <a:rPr lang="en-PH" sz="2400" b="0" i="0" dirty="0">
                <a:solidFill>
                  <a:srgbClr val="2D3B45"/>
                </a:solidFill>
                <a:effectLst/>
              </a:rPr>
              <a:t> </a:t>
            </a:r>
            <a:r>
              <a:rPr lang="en-PH" sz="2400" b="0" i="1" dirty="0">
                <a:solidFill>
                  <a:srgbClr val="2D3B45"/>
                </a:solidFill>
                <a:effectLst/>
              </a:rPr>
              <a:t>with at least 5 columns and 20,000 rows</a:t>
            </a:r>
            <a:r>
              <a:rPr lang="en-PH" sz="2400" b="0" i="0" dirty="0">
                <a:solidFill>
                  <a:srgbClr val="2D3B45"/>
                </a:solidFill>
                <a:effectLst/>
              </a:rPr>
              <a:t> will be sufficient for the experiments.</a:t>
            </a:r>
          </a:p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endParaRPr lang="en-PH" sz="2400" b="1" dirty="0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FAQs #1a</a:t>
            </a:r>
          </a:p>
        </p:txBody>
      </p:sp>
    </p:spTree>
    <p:extLst>
      <p:ext uri="{BB962C8B-B14F-4D97-AF65-F5344CB8AC3E}">
        <p14:creationId xmlns:p14="http://schemas.microsoft.com/office/powerpoint/2010/main" val="2797858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5548"/>
            <a:ext cx="9762671" cy="4757530"/>
          </a:xfrm>
        </p:spPr>
        <p:txBody>
          <a:bodyPr>
            <a:noAutofit/>
          </a:bodyPr>
          <a:lstStyle/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400" b="1" dirty="0">
                <a:solidFill>
                  <a:schemeClr val="accent1">
                    <a:lumMod val="75000"/>
                  </a:schemeClr>
                </a:solidFill>
                <a:effectLst/>
              </a:rPr>
              <a:t>Do you have to copy all columns of the source dataset?</a:t>
            </a:r>
          </a:p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endParaRPr lang="en-PH" sz="2400" b="1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No. A table design with few columns, e.g., 5, that can lead to a meaningful web application without a complex database structure is sufficient. </a:t>
            </a:r>
            <a:r>
              <a:rPr lang="en-PH" sz="2400" dirty="0">
                <a:solidFill>
                  <a:srgbClr val="2D3B45"/>
                </a:solidFill>
              </a:rPr>
              <a:t>Choose a source table where you can extract at least 20,000 rows and where a logical fragmentation criterion can be applied.</a:t>
            </a:r>
            <a:endParaRPr lang="en-PH" sz="2400" b="0" i="0" dirty="0">
              <a:solidFill>
                <a:srgbClr val="2D3B45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FAQs #1b</a:t>
            </a:r>
          </a:p>
        </p:txBody>
      </p:sp>
    </p:spTree>
    <p:extLst>
      <p:ext uri="{BB962C8B-B14F-4D97-AF65-F5344CB8AC3E}">
        <p14:creationId xmlns:p14="http://schemas.microsoft.com/office/powerpoint/2010/main" val="3679314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5548"/>
            <a:ext cx="9743622" cy="475753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What type of application are we supposed to develop?</a:t>
            </a:r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A simple web application that you learned from APPDEV / WEBAPP with the following features: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Simple web interface to provide access to the database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Function to </a:t>
            </a:r>
            <a:r>
              <a:rPr lang="en-PH" sz="2200" b="1" i="0" dirty="0">
                <a:solidFill>
                  <a:srgbClr val="2D3B45"/>
                </a:solidFill>
                <a:effectLst/>
              </a:rPr>
              <a:t>insert</a:t>
            </a:r>
            <a:r>
              <a:rPr lang="en-PH" sz="2200" b="0" i="0" dirty="0">
                <a:solidFill>
                  <a:srgbClr val="2D3B45"/>
                </a:solidFill>
                <a:effectLst/>
              </a:rPr>
              <a:t> new records to the database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Function to </a:t>
            </a:r>
            <a:r>
              <a:rPr lang="en-PH" sz="2200" b="1" i="0" dirty="0">
                <a:solidFill>
                  <a:srgbClr val="2D3B45"/>
                </a:solidFill>
                <a:effectLst/>
              </a:rPr>
              <a:t>update</a:t>
            </a:r>
            <a:r>
              <a:rPr lang="en-PH" sz="2200" b="0" i="0" dirty="0">
                <a:solidFill>
                  <a:srgbClr val="2D3B45"/>
                </a:solidFill>
                <a:effectLst/>
              </a:rPr>
              <a:t> existing records in the database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Function to </a:t>
            </a:r>
            <a:r>
              <a:rPr lang="en-PH" sz="2200" b="1" i="0" dirty="0">
                <a:solidFill>
                  <a:srgbClr val="2D3B45"/>
                </a:solidFill>
                <a:effectLst/>
              </a:rPr>
              <a:t>search</a:t>
            </a:r>
            <a:r>
              <a:rPr lang="en-PH" sz="2200" b="0" i="0" dirty="0">
                <a:solidFill>
                  <a:srgbClr val="2D3B45"/>
                </a:solidFill>
                <a:effectLst/>
              </a:rPr>
              <a:t> and to </a:t>
            </a:r>
            <a:r>
              <a:rPr lang="en-PH" sz="2200" b="1" i="0" dirty="0">
                <a:solidFill>
                  <a:srgbClr val="2D3B45"/>
                </a:solidFill>
                <a:effectLst/>
              </a:rPr>
              <a:t>view</a:t>
            </a:r>
            <a:r>
              <a:rPr lang="en-PH" sz="2200" b="0" i="0" dirty="0">
                <a:solidFill>
                  <a:srgbClr val="2D3B45"/>
                </a:solidFill>
                <a:effectLst/>
              </a:rPr>
              <a:t> records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Function to </a:t>
            </a:r>
            <a:r>
              <a:rPr lang="en-PH" sz="2200" b="1" i="0" dirty="0">
                <a:solidFill>
                  <a:srgbClr val="2D3B45"/>
                </a:solidFill>
                <a:effectLst/>
              </a:rPr>
              <a:t>view </a:t>
            </a:r>
            <a:r>
              <a:rPr lang="en-PH" sz="2200" b="0" i="0" dirty="0">
                <a:solidFill>
                  <a:srgbClr val="2D3B45"/>
                </a:solidFill>
                <a:effectLst/>
              </a:rPr>
              <a:t>a set of text-based reports; your team decides on the set of reports to be generated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bg1"/>
                </a:solidFill>
              </a:rPr>
              <a:t>FAQs #2a</a:t>
            </a:r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24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5548"/>
            <a:ext cx="9762671" cy="475753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What type of application are we supposed to develop?</a:t>
            </a:r>
          </a:p>
          <a:p>
            <a:pPr marL="0" indent="0" algn="l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On top of basic features that you already learned from prior courses, your application should also: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Support concurrent execution of transactions, i.e., multiple users can connect to your web application at the same time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Allow access to all records in the database regardless if the user is at Node 1, Node 2 or Node 3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Transparent access to the database, i.e., users would not know where your application is sourcing the data (node 1, 2 or 3)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200" dirty="0">
                <a:solidFill>
                  <a:srgbClr val="2D3B45"/>
                </a:solidFill>
              </a:rPr>
              <a:t>Perform recovery from failure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200" dirty="0">
                <a:solidFill>
                  <a:srgbClr val="2D3B45"/>
                </a:solidFill>
              </a:rPr>
              <a:t>Maintain database consistency</a:t>
            </a:r>
            <a:endParaRPr lang="en-PH" sz="2200" b="0" i="0" dirty="0">
              <a:solidFill>
                <a:srgbClr val="2D3B45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FAQs #2b</a:t>
            </a:r>
          </a:p>
        </p:txBody>
      </p:sp>
    </p:spTree>
    <p:extLst>
      <p:ext uri="{BB962C8B-B14F-4D97-AF65-F5344CB8AC3E}">
        <p14:creationId xmlns:p14="http://schemas.microsoft.com/office/powerpoint/2010/main" val="3279017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5548"/>
            <a:ext cx="9762671" cy="475753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Do we need to deploy our web and database servers?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YES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Three nodes == three sites/servers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400" dirty="0">
                <a:solidFill>
                  <a:srgbClr val="2D3B45"/>
                </a:solidFill>
              </a:rPr>
              <a:t>Project demo will be using live sites and servers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Use available cloud platforms, e.g., CCS Cloud, Google Cloud, AWS, …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endParaRPr lang="en-PH" sz="2400" b="0" i="0" dirty="0">
              <a:solidFill>
                <a:srgbClr val="2D3B45"/>
              </a:solidFill>
              <a:effectLst/>
            </a:endParaRP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No other 3rd party tools are required except for the cloud platform, MySQL, and the language you will use to code your web app.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You will need to code your own recovery facilities.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endParaRPr lang="en-PH" sz="2400" b="0" i="0" dirty="0">
              <a:solidFill>
                <a:srgbClr val="2D3B45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FAQs #3</a:t>
            </a:r>
          </a:p>
        </p:txBody>
      </p:sp>
    </p:spTree>
    <p:extLst>
      <p:ext uri="{BB962C8B-B14F-4D97-AF65-F5344CB8AC3E}">
        <p14:creationId xmlns:p14="http://schemas.microsoft.com/office/powerpoint/2010/main" val="3521680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5548"/>
            <a:ext cx="9762671" cy="475753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The following questions from </a:t>
            </a: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</a:rPr>
              <a:t>Exercise 05 Distributed Databases </a:t>
            </a: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will help you design your algorithms for concurrency, update, and recovery strategies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l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Data replication and fragmentation strategy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Choice vs benefits of data replication and fragmentation strategies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Update strategies to maintain a consistent copy of your replicated database across the three nodes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PH" sz="2400" b="0" i="0" dirty="0">
                <a:solidFill>
                  <a:srgbClr val="2D3B45"/>
                </a:solidFill>
                <a:effectLst/>
              </a:rPr>
              <a:t>Data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FAQs #3</a:t>
            </a:r>
          </a:p>
        </p:txBody>
      </p:sp>
    </p:spTree>
    <p:extLst>
      <p:ext uri="{BB962C8B-B14F-4D97-AF65-F5344CB8AC3E}">
        <p14:creationId xmlns:p14="http://schemas.microsoft.com/office/powerpoint/2010/main" val="3104800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5" y="1815548"/>
            <a:ext cx="9567636" cy="475753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How do we implement Recovery and maintain Consistency without using the built-in tools of the DBMS?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000" b="0" i="0" dirty="0">
                <a:solidFill>
                  <a:schemeClr val="accent2">
                    <a:lumMod val="50000"/>
                  </a:schemeClr>
                </a:solidFill>
                <a:effectLst/>
              </a:rPr>
              <a:t>The same way all other CS students before you did it -- by coding the logic yourselves. 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endParaRPr lang="en-PH" sz="1200" b="0" i="0" dirty="0">
              <a:solidFill>
                <a:srgbClr val="2D3B45"/>
              </a:solidFill>
              <a:effectLst/>
            </a:endParaRP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000" b="0" i="0" dirty="0">
                <a:solidFill>
                  <a:srgbClr val="2D3B45"/>
                </a:solidFill>
                <a:effectLst/>
              </a:rPr>
              <a:t>Think of all possible scenarios, then code your algorithms, e.g.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PH" sz="2000" i="1" dirty="0">
                <a:solidFill>
                  <a:srgbClr val="2D3B45"/>
                </a:solidFill>
              </a:rPr>
              <a:t>A user at Node 3 wants to update the appointment with a doctor “Dr. Tan” concurrently with a user at Node 1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PH" sz="2000" i="1" dirty="0">
                <a:solidFill>
                  <a:srgbClr val="2D3B45"/>
                </a:solidFill>
              </a:rPr>
              <a:t>A user wants to set a new appointment for a hospital in Visayas, but while doing so, Node 3 fails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PH" sz="2000" b="0" i="1" dirty="0">
                <a:solidFill>
                  <a:srgbClr val="2D3B45"/>
                </a:solidFill>
                <a:effectLst/>
              </a:rPr>
              <a:t>When Node 3 recovers, what should </a:t>
            </a:r>
            <a:r>
              <a:rPr lang="en-PH" sz="2000" i="1" dirty="0">
                <a:solidFill>
                  <a:srgbClr val="2D3B45"/>
                </a:solidFill>
              </a:rPr>
              <a:t>the system</a:t>
            </a:r>
            <a:r>
              <a:rPr lang="en-PH" sz="2000" b="0" i="1" dirty="0">
                <a:solidFill>
                  <a:srgbClr val="2D3B45"/>
                </a:solidFill>
                <a:effectLst/>
              </a:rPr>
              <a:t> do?</a:t>
            </a: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endParaRPr lang="en-PH" sz="1200" i="1" dirty="0">
              <a:solidFill>
                <a:srgbClr val="2D3B45"/>
              </a:solidFill>
            </a:endParaRPr>
          </a:p>
          <a:p>
            <a:pPr marL="0" indent="0">
              <a:lnSpc>
                <a:spcPct val="114000"/>
              </a:lnSpc>
              <a:spcBef>
                <a:spcPts val="600"/>
              </a:spcBef>
              <a:buNone/>
            </a:pPr>
            <a:r>
              <a:rPr lang="en-PH" sz="2000" b="0" dirty="0">
                <a:solidFill>
                  <a:schemeClr val="accent2">
                    <a:lumMod val="50000"/>
                  </a:schemeClr>
                </a:solidFill>
                <a:effectLst/>
              </a:rPr>
              <a:t>Different groups will have different strategies (algorithms) for updating the distributed database and recovering from failure.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FAQs #4</a:t>
            </a:r>
          </a:p>
        </p:txBody>
      </p:sp>
    </p:spTree>
    <p:extLst>
      <p:ext uri="{BB962C8B-B14F-4D97-AF65-F5344CB8AC3E}">
        <p14:creationId xmlns:p14="http://schemas.microsoft.com/office/powerpoint/2010/main" val="1875313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214664" y="1815548"/>
            <a:ext cx="9762671" cy="4757530"/>
          </a:xfrm>
        </p:spPr>
        <p:txBody>
          <a:bodyPr>
            <a:noAutofit/>
          </a:bodyPr>
          <a:lstStyle/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All you need are basic SQL queries to code your transaction operations, combined with isolation levels and locks for concurrency control, and logs for recovery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All database insertion, update, and view as well as support for concurrency and recovery must be coded by your group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en-PH" sz="2200" b="0" i="0" dirty="0">
                <a:solidFill>
                  <a:srgbClr val="2D3B45"/>
                </a:solidFill>
                <a:effectLst/>
              </a:rPr>
              <a:t>Your design decisions dictate your code and logic that apply the concepts of concurrency, locking, isolation levels, consistency, and recovery</a:t>
            </a:r>
          </a:p>
          <a:p>
            <a:pPr>
              <a:lnSpc>
                <a:spcPct val="120000"/>
              </a:lnSpc>
            </a:pPr>
            <a:r>
              <a:rPr lang="en-US" altLang="en-US" sz="2200" i="1" dirty="0"/>
              <a:t>Reminders:</a:t>
            </a:r>
          </a:p>
          <a:p>
            <a:pPr lvl="1">
              <a:lnSpc>
                <a:spcPct val="120000"/>
              </a:lnSpc>
            </a:pPr>
            <a:r>
              <a:rPr lang="en-US" altLang="en-US" sz="2200" dirty="0">
                <a:solidFill>
                  <a:srgbClr val="C00000"/>
                </a:solidFill>
                <a:sym typeface="Wingdings" pitchFamily="2" charset="2"/>
              </a:rPr>
              <a:t>Plagiarized work – AI generated code and technical report – will merit a grade of 0 for MCO2</a:t>
            </a:r>
            <a:endParaRPr lang="en-US" altLang="en-US" sz="2200" dirty="0"/>
          </a:p>
          <a:p>
            <a:pPr lvl="1">
              <a:lnSpc>
                <a:spcPct val="120000"/>
              </a:lnSpc>
            </a:pPr>
            <a:r>
              <a:rPr lang="en-US" altLang="en-US" sz="2200" dirty="0">
                <a:solidFill>
                  <a:srgbClr val="C00000"/>
                </a:solidFill>
              </a:rPr>
              <a:t>Deductions for non-deployed web application and database server</a:t>
            </a:r>
            <a:r>
              <a:rPr lang="en-US" altLang="en-US" sz="2200" i="1" dirty="0"/>
              <a:t> (see rubric)</a:t>
            </a:r>
            <a:endParaRPr lang="en-PH" sz="2200" b="0" i="0" dirty="0">
              <a:solidFill>
                <a:srgbClr val="2D3B45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FCCF8-3998-704B-9694-A151170CD19E}"/>
              </a:ext>
            </a:extLst>
          </p:cNvPr>
          <p:cNvSpPr/>
          <p:nvPr/>
        </p:nvSpPr>
        <p:spPr>
          <a:xfrm>
            <a:off x="0" y="469900"/>
            <a:ext cx="12192000" cy="965200"/>
          </a:xfrm>
          <a:prstGeom prst="rect">
            <a:avLst/>
          </a:prstGeom>
          <a:solidFill>
            <a:srgbClr val="581479"/>
          </a:solidFill>
          <a:ln>
            <a:solidFill>
              <a:srgbClr val="6717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050">
            <a:extLst>
              <a:ext uri="{FF2B5EF4-FFF2-40B4-BE49-F238E27FC236}">
                <a16:creationId xmlns:a16="http://schemas.microsoft.com/office/drawing/2014/main" id="{073E1CA4-6B66-A44B-923B-39E915489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664" y="6477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Final Note</a:t>
            </a:r>
          </a:p>
        </p:txBody>
      </p:sp>
    </p:spTree>
    <p:extLst>
      <p:ext uri="{BB962C8B-B14F-4D97-AF65-F5344CB8AC3E}">
        <p14:creationId xmlns:p14="http://schemas.microsoft.com/office/powerpoint/2010/main" val="119558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2156</Words>
  <Application>Microsoft Macintosh PowerPoint</Application>
  <PresentationFormat>Widescreen</PresentationFormat>
  <Paragraphs>207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</vt:lpstr>
      <vt:lpstr>Office Theme</vt:lpstr>
      <vt:lpstr>Transaction Management in Distributed Databases</vt:lpstr>
      <vt:lpstr>Distributed Database</vt:lpstr>
      <vt:lpstr>PowerPoint Presentation</vt:lpstr>
      <vt:lpstr>Data Replication</vt:lpstr>
      <vt:lpstr>Data Fragmentation</vt:lpstr>
      <vt:lpstr>Transparency in Distributed Database</vt:lpstr>
      <vt:lpstr>MCO2 Transaction Management</vt:lpstr>
      <vt:lpstr>PowerPoint Presentation</vt:lpstr>
      <vt:lpstr>PowerPoint Presentation</vt:lpstr>
      <vt:lpstr>PowerPoint Presentation</vt:lpstr>
      <vt:lpstr>2. Build your distributed database system</vt:lpstr>
      <vt:lpstr>2. Build your distributed database system</vt:lpstr>
      <vt:lpstr>3. Simulate Concurrency Control and Replication</vt:lpstr>
      <vt:lpstr>3. Simulate Concurrency Control and Replication</vt:lpstr>
      <vt:lpstr>4. Simulate Global Failure and Recovery</vt:lpstr>
      <vt:lpstr>4. Simulate Global Failure and Recovery</vt:lpstr>
      <vt:lpstr>PowerPoint Presentation</vt:lpstr>
      <vt:lpstr>Technical Report</vt:lpstr>
      <vt:lpstr>Core Requirements</vt:lpstr>
      <vt:lpstr>Deliverables: 01 December 2025</vt:lpstr>
      <vt:lpstr>Presentation: December 01 –05</vt:lpstr>
      <vt:lpstr>Reminders</vt:lpstr>
      <vt:lpstr>FAQs #1a</vt:lpstr>
      <vt:lpstr>FAQs #1b</vt:lpstr>
      <vt:lpstr>FAQs #2a</vt:lpstr>
      <vt:lpstr>FAQs #2b</vt:lpstr>
      <vt:lpstr>FAQs #3</vt:lpstr>
      <vt:lpstr>FAQs #3</vt:lpstr>
      <vt:lpstr>FAQs #4</vt:lpstr>
      <vt:lpstr>Final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Ethel  C. Ong</dc:creator>
  <cp:lastModifiedBy>Ethel  C. Ong</cp:lastModifiedBy>
  <cp:revision>31</cp:revision>
  <dcterms:created xsi:type="dcterms:W3CDTF">2022-01-26T00:35:19Z</dcterms:created>
  <dcterms:modified xsi:type="dcterms:W3CDTF">2025-11-13T23:26:29Z</dcterms:modified>
</cp:coreProperties>
</file>